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GALGOTIAS UNIVERSITY • SCHOOL OF COMPUTER APPLICATIONS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STOCK MARKET ANALYSIS AND</a:t>
            </a:r>
            <a:br/>
            <a:r>
              <a:t>PRICE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Calibri"/>
              </a:defRPr>
            </a:pPr>
            <a:r>
              <a:t>An Interactive Machine Learning &amp; NLP Sentiment Decision-Support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10362895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Bachelor of Computer Applications (BCA) — Academic Session 2026–27</a:t>
            </a:r>
          </a:p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Submitted By:  1. Kartik Garg (24SCSE1470057)   •   2. Akarsh Raj (24SCSE1470114)   •   3. Sarthak Chhabra (24SCSE1470097)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Project Supervisor: [Enter Guide Name], Assistant Professor / Associate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Problem Statement &amp; Project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Market Volatility &amp; Noise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High-dimensional financial time-series data with extreme stochastic volatility.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Retail investors suffer from emotional biases (panic selling, FOMO).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Manual tracking across price charts &amp; news feeds is error-prone and tedious.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Lack of accessible predictive analytics tools for retail participants.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Existing Tool Limitations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Commercial platforms (Bloomberg, Refinitiv) have prohibitive subscription costs.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Free charting tools lack predictive Machine Learning forecasting capabilities.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Traditional statistical tools (ARIMA) fail under sudden regime shifts.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Numerical analysis is completely disconnected from market sentiment.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Proposed Solution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Unified zero-cost decision support dashboard built with Python &amp; Streamlit.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Combines technical indicators, ML regression, and live VADER NLP sentiment.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100% free data pipeline via yfinance with zero required API keys.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Interactive Plotly visualizations with clear future price forecasts.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Project Objectives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Core Project Objectives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Automated Market Ingestion: Ingest historical OHLCV data for US (AAPL) &amp; Indian NSE (RELIANCE.NS) stocks.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Technical Indicators: Vectorized calculation of SMA (20/50/200), EMA, RSI-14, MACD, and Bollinger Bands.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Look-Ahead-Free ML: 14 engineered features with strict chronological 80/20 train/test split.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Quantitative Evaluation: Assess models using RMSE, MAE, and MAPE (%) metrics.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Live NLP Sentiment: Real-time headline scoring into Bullish, Neutral, and Bearish market moods.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2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Project Scope &amp; Boundaries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Target Audience: Retail investors, student researchers, and academic evaluators.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Global Coverage: Supports all tickers on Yahoo Finance (NYSE, NASDAQ, NSE, BSE).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Hardware Accessibility: Executes on standard consumer laptops with zero C++ compiler errors.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System Boundaries: Analytical decision-support prototype (not an automated broker).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Trading Guardrail: Excludes live monetary trade execution or paid high-frequency tick feeds.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Technology Stack &amp; Free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3108960"/>
                <a:gridCol w="27432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/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Technologies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Libraries / APIs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Functionality in 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 /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Streamlit, Plotly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streamlit &gt;= 1.35.0</a:t>
                      </a:r>
                    </a:p>
                    <a:p>
                      <a:r>
                        <a:t>plotly &gt;= 5.22.0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Reactive 4-tab dashboard, interactive candlestick &amp; forecast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 Processing &amp; Indicators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Python 3.11, Pandas, NumPy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pandas &gt;= 2.2.0</a:t>
                      </a:r>
                    </a:p>
                    <a:p>
                      <a:r>
                        <a:t>numpy &gt;= 1.26.0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Vectorized SMA, EMA, RSI-14, MACD, Bollinger Bands math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Machine Learning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RandomForestRegressor</a:t>
                      </a:r>
                    </a:p>
                    <a:p>
                      <a:r>
                        <a:t>GradientBoostingRegressor</a:t>
                      </a:r>
                    </a:p>
                    <a:p>
                      <a:r>
                        <a:t>LinearRegression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 engineered features, chronological 80/20 split, recursive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Free Market Data &amp; NLP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yfinance, Finnhub, VADER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yfinance &gt;= 0.2.40</a:t>
                      </a:r>
                    </a:p>
                    <a:p>
                      <a:r>
                        <a:t>vaderSentiment &gt;= 3.3.2</a:t>
                      </a:r>
                    </a:p>
                    <a:p>
                      <a:r>
                        <a:t>requests &gt;= 2.31.0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Zero-key historical OHLCV data, MultiIndex cleaner, headline sentiment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System Architecture &amp; Modular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116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14630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data_loader.py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yfinance historical OHLCV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MultiIndex column flattener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@st.cache_data (TTL: 10m)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Tiered news failover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2" y="1645920"/>
            <a:ext cx="20116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874520"/>
            <a:ext cx="14630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indicators.py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SMA (20, 50, 200) &amp; EMA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Wilder smoothed RSI-14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MACD (12, 26, 9) + Hist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Bollinger Bands (20, 2σ)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1645920"/>
            <a:ext cx="20116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1874520"/>
            <a:ext cx="14630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predictor.py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14 dynamic time-series features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Chronological 80/20 split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RF / GBDT / Linear Reg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Recursive multi-day forecast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0336" y="1645920"/>
            <a:ext cx="20116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1874520"/>
            <a:ext cx="14630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sentiment.py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Finnhub API news feed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Financial lexicon tuning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Compound polarity scoring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Bullish / Bearish 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36608" y="1645920"/>
            <a:ext cx="20116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1874520"/>
            <a:ext cx="14630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app.py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Sidebar parameter controls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Executive summary cards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Plotly candlestick overlays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Day-by-day forecast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172200"/>
            <a:ext cx="1069848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DATA FLOW: Free APIs  ──►  Ingestion &amp; Caching  ──►  Indicators + ML + NLP  ──►  Interactive Streamlit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Technical Indicators Engine (indicators.py)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Trend Indicators (SMA / EMA)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SMA 20, 50, 200: Captures short, medium, and long-term trend regimes.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EMA 20: Exponential weighting places greater sensitivity on recent prices.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Pure Vectorized Math: Computed using Pandas .rolling() and .ewm().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Momentum Oscillator (RSI-14)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Wilder's Smoothing: 14-period smoothed gain/loss momentum metric.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Standard Overbought (70) &amp; Oversold (30) reference thresholds.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Signal: Identifies potential price reversals and momentum exhaustion.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Trend-Following Momentum (MACD)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MACD Line: Difference between 12-day EMA and 26-day EMA.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Signal Line: 9-day EMA of the MACD Line.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Histogram: MACD Line minus Signal Line (green positive, red negative).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Volatility (Bollinger Bands)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Middle Band: 20-period Simple Moving Average.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Upper / Lower Bands: Middle Band ± (2.0 × 20-day standard deviation).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Volatility Envelopes: Shaded visual ribbon highlighting price breakouts.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Machine Learning Prediction Pipeline (predictor.py)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1. Feature Engineering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Lagged Prices: Close prices lagged 1, 2, 3, 4, and 5 days.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Rolling Means: 5, 10, and 20-day shifted moving averages.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Volatility: 10-day shifted rolling standard deviation.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Returns: 1-day and 5-day daily percentage changes.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Momentum &amp; Volume: Shifted RSI-14 and volume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2. Chronological Split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Strict Chronological 80/20 Partition: First 80% train, last 20% test.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Zero Look-Ahead Bias: Eliminates data leakage completely.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Algorithms: RandomForest, GradientBoosting, Linear Regression.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Evaluation Metrics: RMSE, MAE, MAPE (%), and Directional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3. Recursive Forecasting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Multi-Step Autoregression: Forecasts 7 to 30 business days ahead.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Buffer Updating: Predicted price fed back as lag for next day.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Confidence Envelopes: Statistical 95% error corridor (±1.96 × RMSE).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CSV Export: One-click download of daily predicted prices.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News Sentiment Analysis Engine (sentiment.py)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Dual-Source Ingestion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Primary: Finnhub REST API (/api/v1/company-news) for live corporate press.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Zero-Key Fallback: yfinance search news (yf.Search) if API key is absent.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Safety Net: Google News RSS feed for guaranteed headline availability.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Reliability: Sentiment analysis works 100% offline or online.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VADER NLP Engine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Valence Aware Dictionary: Rule-based sentiment scoring for short text.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Financial Lexicon Tuning: Custom weights for surge, slump, rally, plunge, downgrade.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Granular Metrics: Positive, Neutral, Negative, and Compound polarity scores.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Fast Execution: Instant headline evaluation (&lt;50ms per batch).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20"/>
            <a:ext cx="2834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Signal Categorization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🟢 Bullish: Compound Score &gt;= +0.10 (Positive market optimism).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🔴 Bearish: Compound Score &lt;= -0.10 (Negative market pessimism).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⚪ Neutral: Compound Score between -0.10 and +0.10.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Visual Gauge: Donut chart displaying sentiment percentage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Dashboard User Interface (app.py — 4 Tabs)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Tab 1: Market Overview &amp; Candlesticks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Interactive Plotly Candlestick chart with volume bar subplot.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Toggleable overlays for SMA 20/50/200 and Bollinger Bands.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AI Forecast Overlay: Extends green predicted price trajectory into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Tab 2: Technical Indicators Subplots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RSI-14 Subplot: Displays 70 overbought and 30 oversold shaded zones.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MACD Subplot: Synchronized MACD Line, Signal Line, and colored Histogram.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Viva Educational Nuggets: Clear explanations for non-technical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Tab 3: ML Price Prediction &amp; Backtest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Backtest Validation: Actual test prices (Blue) vs. ML Predicted (Pink dashed).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Accuracy Metrics: Real-time display of RMSE, MAE, and MAPE (%) cards.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Day-by-Day Forecast Table: Projected closing price, change $, and return 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4572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Tab 4: News &amp; Sentiment Analysis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Executive Sentiment Stance Badge: Overall Bullish / Bearish classification.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Donut Chart: Visual percentage breakdown of positive, neutral, negative news.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Interactive Headline Feed: Scored news articles with source and direct links.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Experimental Results &amp; Model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Regressor 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(Price Units)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(Price Units)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Speed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 Forest Regressor (120 Trees)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0.85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Gradient Boosting Regressor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13.45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11.12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3.31%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0.60 seconds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0.10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931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4023360"/>
                <a:gridCol w="18288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Scenario Tested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Behavior / Verification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Output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TC-01 / 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 Equity (AAPL) &amp; Indian NSE (RELIANCE.NS)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Clean historical ingestion; currency recognized as USD / INR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PASS (100% Verified)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TC-03 / TC-04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MultiIndex Flattening &amp; Fallback News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Columns flattened cleanly; seamless fallback to Yahoo/Google RSS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PASS (100% Verified)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TC-05 / TC-06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Model Training, Backtest &amp; Port 8501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MAPE &lt; 3.0%; web server responds with HTTP 200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PASS (100% Verified)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BCA CAPSTONE PROJECT • GALGOTIAS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Comparative Advantage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Why Our System Outperforms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Zero Cost &amp; Zero Key Barrier: Operates out-of-the-box without commercial subscriptions.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Hardware Efficient: Sub-second training on standard CPUs without GPU / CUDA requirements.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Look-Ahead Bias Elimination: Strict chronological 80/20 train/test data splitting.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Multimodal Analysis: Combines numerical OHLCV, mathematical technicals, and news NLP.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High Visual Transparency: Overlays forecasts directly onto candlesticks with confidence corridors.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2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Future Enhancements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Deep Learning Models: Integrate LSTM and Temporal Fusion Transformers for long horizons.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Financial LLMs: Integrate FinBERT for deep semantic earnings call analysis.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Paper Trading Integration: Connect Alpaca / Zerodha sandbox APIs for simulated order execution.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Portfolio Optimization: Implement Markowitz Mean-Variance multi-asset allocation.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Cloud Deployment: Containerize via Docker and deploy on Streamlit Community Cloud.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PROJECT SUMMARY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Academic Significance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004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🎯 Accuracy Achieved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Random Forest Regressor achieved 2.98% out-of-sample MAPE error, proving strong generalizability without data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⚡ Zero-Cost Architecture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Operates 100% out-of-the-box using free yfinance data &amp; VADER NLP, eliminating institutional data subscription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32004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🚀 Production Ready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Modular, compiler-free, and tested against live US and Indian tickers with complete viva defense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10332720" cy="1554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Thank You! — Questions &amp; Answers</a:t>
            </a:r>
          </a:p>
          <a:p>
            <a:pPr algn="ctr">
              <a:defRPr sz="1600">
                <a:solidFill>
                  <a:srgbClr val="38BDF8"/>
                </a:solidFill>
                <a:latin typeface="Calibri"/>
              </a:defRPr>
            </a:pPr>
            <a:r>
              <a:t>Live Dashboard Available at:  streamlit run app.py   (Port: 8501)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Galgotias University • School of Computer Applications and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